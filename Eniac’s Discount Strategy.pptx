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2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214ce63e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214ce63e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214ce63e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214ce63e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214ce63e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214ce63e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100"/>
              <a:buChar char="●"/>
            </a:pPr>
            <a:r>
              <a:rPr lang="en" b="1">
                <a:solidFill>
                  <a:srgbClr val="073763"/>
                </a:solidFill>
              </a:rPr>
              <a:t>Each box shows the typical price range per category (median + spread).</a:t>
            </a:r>
            <a:endParaRPr b="1">
              <a:solidFill>
                <a:srgbClr val="073763"/>
              </a:solidFill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100"/>
              <a:buChar char="●"/>
            </a:pPr>
            <a:r>
              <a:rPr lang="en" b="1">
                <a:solidFill>
                  <a:srgbClr val="073763"/>
                </a:solidFill>
              </a:rPr>
              <a:t>Long tails indicate few very expensive items driving revenue.</a:t>
            </a:r>
            <a:endParaRPr b="1">
              <a:solidFill>
                <a:srgbClr val="073763"/>
              </a:solidFill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100"/>
              <a:buChar char="●"/>
            </a:pPr>
            <a:r>
              <a:rPr lang="en" b="1">
                <a:solidFill>
                  <a:srgbClr val="073763"/>
                </a:solidFill>
              </a:rPr>
              <a:t>Why it matters:</a:t>
            </a:r>
            <a:endParaRPr b="1">
              <a:solidFill>
                <a:srgbClr val="073763"/>
              </a:solidFill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100"/>
              <a:buChar char="●"/>
            </a:pPr>
            <a:r>
              <a:rPr lang="en" b="1">
                <a:solidFill>
                  <a:srgbClr val="073763"/>
                </a:solidFill>
              </a:rPr>
              <a:t>Discounting high-spread categories impacts revenue much more than discounting low-price items.</a:t>
            </a:r>
            <a:endParaRPr b="1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b="1">
                <a:solidFill>
                  <a:srgbClr val="073763"/>
                </a:solidFill>
              </a:rPr>
              <a:t>The highest discount risk sits in Apple Displays, Apple Laptops, Storage, Other Tech, and Servers — these categories have wide price ranges and expensive outliers, so even small discounts there create large revenue losses.</a:t>
            </a:r>
            <a:endParaRPr b="1">
              <a:solidFill>
                <a:srgbClr val="073763"/>
              </a:solidFill>
            </a:endParaRPr>
          </a:p>
          <a:p>
            <a:pPr marL="457200" lvl="0" indent="-34290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b="1">
                <a:solidFill>
                  <a:srgbClr val="073763"/>
                </a:solidFill>
              </a:rPr>
              <a:t>This chart shows that most of Eniac’s revenue risk sits in a small number of high-price products, so broad discounting there can destroy value faster than it creates volume.</a:t>
            </a:r>
            <a:endParaRPr b="1">
              <a:solidFill>
                <a:srgbClr val="073763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050" b="1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Accessories, Cables, Apple Watch, and Components</a:t>
            </a:r>
            <a:r>
              <a:rPr lang="en">
                <a:solidFill>
                  <a:schemeClr val="dk1"/>
                </a:solidFill>
              </a:rPr>
              <a:t> are concentrated at the </a:t>
            </a:r>
            <a:r>
              <a:rPr lang="en" b="1">
                <a:solidFill>
                  <a:schemeClr val="dk1"/>
                </a:solidFill>
              </a:rPr>
              <a:t>low-price range</a:t>
            </a:r>
            <a:r>
              <a:rPr lang="en">
                <a:solidFill>
                  <a:schemeClr val="dk1"/>
                </a:solidFill>
              </a:rPr>
              <a:t>, showing mostly affordable items.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Apple Laptop, Storage, and Other Tech</a:t>
            </a:r>
            <a:r>
              <a:rPr lang="en">
                <a:solidFill>
                  <a:schemeClr val="dk1"/>
                </a:solidFill>
              </a:rPr>
              <a:t> show </a:t>
            </a:r>
            <a:r>
              <a:rPr lang="en" b="1">
                <a:solidFill>
                  <a:schemeClr val="dk1"/>
                </a:solidFill>
              </a:rPr>
              <a:t>broader spreads</a:t>
            </a:r>
            <a:r>
              <a:rPr lang="en">
                <a:solidFill>
                  <a:schemeClr val="dk1"/>
                </a:solidFill>
              </a:rPr>
              <a:t>, meaning mixed pricing within those categories.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</a:t>
            </a:r>
            <a:r>
              <a:rPr lang="en" b="1">
                <a:solidFill>
                  <a:schemeClr val="dk1"/>
                </a:solidFill>
              </a:rPr>
              <a:t>white dot</a:t>
            </a:r>
            <a:r>
              <a:rPr lang="en">
                <a:solidFill>
                  <a:schemeClr val="dk1"/>
                </a:solidFill>
              </a:rPr>
              <a:t> marks the median price, and the thick bar shows the interquartile range.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c57ea20b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c57ea20b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2b2c58bf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2b2c58bf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c2b2c58bf1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c2b2c58bf1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21cfc57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21cfc578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1cfc578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21cfc578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21cfc578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21cfc578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21cfc578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21cfc578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ca7f19e7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ca7f19e7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21cfc578f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21cfc578f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21cfc578f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21cfc578f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4"/>
                </a:solidFill>
              </a:rPr>
              <a:t>Eniac’s Discount Strategy</a:t>
            </a:r>
            <a:endParaRPr b="1">
              <a:solidFill>
                <a:schemeClr val="accent4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30400" y="4164350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00">
                <a:solidFill>
                  <a:schemeClr val="dk1"/>
                </a:solidFill>
              </a:rPr>
              <a:t>Presented by: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400">
                <a:solidFill>
                  <a:schemeClr val="dk1"/>
                </a:solidFill>
              </a:rPr>
              <a:t>Derek Murphy                                            Oleksandra Tkachenko                                      Kwabena Agyei</a:t>
            </a:r>
            <a:endParaRPr sz="14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/>
              <a:t>Introduction</a:t>
            </a:r>
            <a:endParaRPr sz="3020" b="1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Objective:</a:t>
            </a:r>
            <a:endParaRPr i="1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Are discounts associated with increased orders and revenue?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 of marketing: 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Discounts improve customer acquisition, satisfaction and retention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Investors have some legitimate concerns:</a:t>
            </a:r>
            <a:endParaRPr i="1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Aggressive discounts are risky</a:t>
            </a:r>
            <a:endParaRPr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Latest results show increased orders but decrease in revenue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i="1">
                <a:solidFill>
                  <a:schemeClr val="dk1"/>
                </a:solidFill>
              </a:rPr>
              <a:t>Scope of analysis:</a:t>
            </a:r>
            <a:endParaRPr i="1">
              <a:solidFill>
                <a:schemeClr val="dk1"/>
              </a:solidFill>
            </a:endParaRPr>
          </a:p>
          <a:p>
            <a:pPr marL="457200" lvl="0" indent="-325755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Orders and discounts across product categories 2017-2018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273425"/>
            <a:ext cx="8520600" cy="48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2000"/>
              </a:spcAft>
              <a:buSzPts val="990"/>
              <a:buNone/>
            </a:pPr>
            <a:r>
              <a:rPr lang="en" sz="2420" b="1"/>
              <a:t>Products Distribution by Category </a:t>
            </a:r>
            <a:endParaRPr sz="2420" b="1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4138450"/>
            <a:ext cx="8520600" cy="8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highlight>
                  <a:srgbClr val="FFFFFF"/>
                </a:highlight>
              </a:rPr>
              <a:t>15 categories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have been identified for analysis. Most products belong to </a:t>
            </a:r>
            <a:r>
              <a:rPr lang="en" sz="1100" b="1">
                <a:solidFill>
                  <a:schemeClr val="dk1"/>
                </a:solidFill>
                <a:highlight>
                  <a:srgbClr val="FFFFFF"/>
                </a:highlight>
              </a:rPr>
              <a:t>2 categories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, which account for </a:t>
            </a:r>
            <a:r>
              <a:rPr lang="en" sz="1100" b="1">
                <a:solidFill>
                  <a:schemeClr val="accent4"/>
                </a:solidFill>
                <a:highlight>
                  <a:srgbClr val="FFFFFF"/>
                </a:highlight>
              </a:rPr>
              <a:t>56%</a:t>
            </a: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</a:rPr>
              <a:t> of the Eniac’s portfolio, namely:</a:t>
            </a: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Accessories: cases (</a:t>
            </a:r>
            <a:r>
              <a:rPr lang="en" sz="1100" b="1">
                <a:solidFill>
                  <a:schemeClr val="accent4"/>
                </a:solidFill>
              </a:rPr>
              <a:t>34%</a:t>
            </a:r>
            <a:r>
              <a:rPr lang="en" sz="1100" b="1">
                <a:solidFill>
                  <a:schemeClr val="dk1"/>
                </a:solidFill>
              </a:rPr>
              <a:t>)</a:t>
            </a:r>
            <a:endParaRPr sz="1100" b="1">
              <a:solidFill>
                <a:schemeClr val="dk1"/>
              </a:solidFill>
            </a:endParaRPr>
          </a:p>
          <a:p>
            <a:pPr marL="457200" lvl="0" indent="-29845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 b="1">
                <a:solidFill>
                  <a:schemeClr val="dk1"/>
                </a:solidFill>
              </a:rPr>
              <a:t>Cables and Connectivity (</a:t>
            </a:r>
            <a:r>
              <a:rPr lang="en" sz="1100" b="1">
                <a:solidFill>
                  <a:schemeClr val="accent4"/>
                </a:solidFill>
              </a:rPr>
              <a:t>22%</a:t>
            </a:r>
            <a:r>
              <a:rPr lang="en" sz="1100" b="1">
                <a:solidFill>
                  <a:schemeClr val="dk1"/>
                </a:solidFill>
              </a:rPr>
              <a:t>)</a:t>
            </a:r>
            <a:endParaRPr sz="11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100" b="1">
              <a:solidFill>
                <a:srgbClr val="073763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325" y="847100"/>
            <a:ext cx="5875339" cy="307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>
            <a:spLocks noGrp="1"/>
          </p:cNvSpPr>
          <p:nvPr>
            <p:ph type="title"/>
          </p:nvPr>
        </p:nvSpPr>
        <p:spPr>
          <a:xfrm>
            <a:off x="311700" y="156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Price Distribution of Products by Category*</a:t>
            </a:r>
            <a:endParaRPr b="1"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348650" y="4397000"/>
            <a:ext cx="85206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7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accent4"/>
                </a:solidFill>
              </a:rPr>
              <a:t>Apple Displays </a:t>
            </a:r>
            <a:r>
              <a:rPr lang="en" sz="1250">
                <a:solidFill>
                  <a:schemeClr val="dk1"/>
                </a:solidFill>
              </a:rPr>
              <a:t>and </a:t>
            </a:r>
            <a:r>
              <a:rPr lang="en" sz="1250">
                <a:solidFill>
                  <a:schemeClr val="accent4"/>
                </a:solidFill>
              </a:rPr>
              <a:t>Laptops</a:t>
            </a:r>
            <a:r>
              <a:rPr lang="en" sz="1250">
                <a:solidFill>
                  <a:schemeClr val="dk1"/>
                </a:solidFill>
              </a:rPr>
              <a:t> dominate the </a:t>
            </a:r>
            <a:r>
              <a:rPr lang="en" sz="1250">
                <a:solidFill>
                  <a:schemeClr val="accent4"/>
                </a:solidFill>
              </a:rPr>
              <a:t>high-price</a:t>
            </a:r>
            <a:r>
              <a:rPr lang="en" sz="1250">
                <a:solidFill>
                  <a:schemeClr val="dk1"/>
                </a:solidFill>
              </a:rPr>
              <a:t> segment.</a:t>
            </a:r>
            <a:endParaRPr sz="1250">
              <a:solidFill>
                <a:schemeClr val="dk1"/>
              </a:solidFill>
            </a:endParaRPr>
          </a:p>
          <a:p>
            <a:pPr marL="457200" lvl="0" indent="-307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accent4"/>
                </a:solidFill>
              </a:rPr>
              <a:t>Accessories and Cables</a:t>
            </a:r>
            <a:r>
              <a:rPr lang="en" sz="1250">
                <a:solidFill>
                  <a:schemeClr val="dk1"/>
                </a:solidFill>
              </a:rPr>
              <a:t> operate in a </a:t>
            </a:r>
            <a:r>
              <a:rPr lang="en" sz="1250">
                <a:solidFill>
                  <a:schemeClr val="accent4"/>
                </a:solidFill>
              </a:rPr>
              <a:t>low-price</a:t>
            </a:r>
            <a:r>
              <a:rPr lang="en" sz="1250">
                <a:solidFill>
                  <a:schemeClr val="dk1"/>
                </a:solidFill>
              </a:rPr>
              <a:t>, high-volume space.</a:t>
            </a:r>
            <a:endParaRPr sz="1250">
              <a:solidFill>
                <a:schemeClr val="dk1"/>
              </a:solidFill>
            </a:endParaRPr>
          </a:p>
          <a:p>
            <a:pPr marL="457200" lvl="0" indent="-30797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Several categories show strong price distribution, increasing discount risk.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464100" y="4168000"/>
            <a:ext cx="8520600" cy="2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r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 b="1">
                <a:solidFill>
                  <a:schemeClr val="dk1"/>
                </a:solidFill>
              </a:rPr>
              <a:t>* Categories with over 500 items have been included, small items - excluded.</a:t>
            </a:r>
            <a:endParaRPr sz="75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450" b="1">
              <a:solidFill>
                <a:srgbClr val="073763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975" y="844975"/>
            <a:ext cx="6927901" cy="3206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175925" y="447292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Most products are discounted (~42k vs 2k) </a:t>
            </a:r>
            <a:endParaRPr sz="152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Discounts cluster strongly around 15%</a:t>
            </a:r>
            <a:endParaRPr sz="1520"/>
          </a:p>
        </p:txBody>
      </p:sp>
      <p:sp>
        <p:nvSpPr>
          <p:cNvPr id="82" name="Google Shape;82;p17"/>
          <p:cNvSpPr txBox="1"/>
          <p:nvPr/>
        </p:nvSpPr>
        <p:spPr>
          <a:xfrm>
            <a:off x="1652750" y="484425"/>
            <a:ext cx="4103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7" y="687776"/>
            <a:ext cx="4044628" cy="389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925" y="665428"/>
            <a:ext cx="4267208" cy="385503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115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Discounting Policy Across Products</a:t>
            </a:r>
            <a:endParaRPr sz="1400" b="1">
              <a:solidFill>
                <a:srgbClr val="00000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82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/>
              <a:t>Percent discount per product category</a:t>
            </a:r>
            <a:endParaRPr sz="2220" b="1"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924" y="584880"/>
            <a:ext cx="7499280" cy="4183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187650" y="4744496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520"/>
              <a:t>Highest discounted categories ranges between 20 to 23%</a:t>
            </a:r>
            <a:endParaRPr sz="15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225" y="595950"/>
            <a:ext cx="7867974" cy="42519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829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20" b="1"/>
              <a:t>Revenue across Products (Major Categories)</a:t>
            </a:r>
            <a:endParaRPr sz="222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2688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Little evidence that aggressive discounts drive more sales</a:t>
            </a:r>
            <a:endParaRPr sz="2020"/>
          </a:p>
        </p:txBody>
      </p:sp>
      <p:pic>
        <p:nvPicPr>
          <p:cNvPr id="104" name="Google Shape;104;p20" title="plot_blank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50" y="993975"/>
            <a:ext cx="8823049" cy="402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2688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Little evidence that aggressive discounts drive more sales</a:t>
            </a:r>
            <a:endParaRPr sz="2020"/>
          </a:p>
        </p:txBody>
      </p:sp>
      <p:pic>
        <p:nvPicPr>
          <p:cNvPr id="110" name="Google Shape;110;p21" title="plot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00" y="993975"/>
            <a:ext cx="8902051" cy="402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2688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Little evidence that aggressive discounts drive more sales</a:t>
            </a:r>
            <a:endParaRPr sz="2020"/>
          </a:p>
        </p:txBody>
      </p:sp>
      <p:pic>
        <p:nvPicPr>
          <p:cNvPr id="116" name="Google Shape;116;p22" title="plo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25" y="997350"/>
            <a:ext cx="9007023" cy="40250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" name="Google Shape;117;p22"/>
          <p:cNvGrpSpPr/>
          <p:nvPr/>
        </p:nvGrpSpPr>
        <p:grpSpPr>
          <a:xfrm>
            <a:off x="4960525" y="1628275"/>
            <a:ext cx="1686300" cy="2536200"/>
            <a:chOff x="5580325" y="987125"/>
            <a:chExt cx="1686300" cy="2536200"/>
          </a:xfrm>
        </p:grpSpPr>
        <p:cxnSp>
          <p:nvCxnSpPr>
            <p:cNvPr id="118" name="Google Shape;118;p22"/>
            <p:cNvCxnSpPr/>
            <p:nvPr/>
          </p:nvCxnSpPr>
          <p:spPr>
            <a:xfrm>
              <a:off x="6423475" y="987125"/>
              <a:ext cx="0" cy="2196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Google Shape;119;p22"/>
            <p:cNvSpPr txBox="1"/>
            <p:nvPr/>
          </p:nvSpPr>
          <p:spPr>
            <a:xfrm>
              <a:off x="5580325" y="3183425"/>
              <a:ext cx="1686300" cy="33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Black Friday &amp; Cyber Monday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3" title="plot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26" y="993975"/>
            <a:ext cx="9045676" cy="40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311700" y="26887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20"/>
              <a:t>Little evidence that aggressive discounts drive more sales</a:t>
            </a:r>
            <a:endParaRPr sz="2020"/>
          </a:p>
        </p:txBody>
      </p:sp>
      <p:grpSp>
        <p:nvGrpSpPr>
          <p:cNvPr id="126" name="Google Shape;126;p23"/>
          <p:cNvGrpSpPr/>
          <p:nvPr/>
        </p:nvGrpSpPr>
        <p:grpSpPr>
          <a:xfrm>
            <a:off x="3170250" y="1702625"/>
            <a:ext cx="2828175" cy="2130000"/>
            <a:chOff x="3170250" y="1702625"/>
            <a:chExt cx="2828175" cy="2130000"/>
          </a:xfrm>
        </p:grpSpPr>
        <p:sp>
          <p:nvSpPr>
            <p:cNvPr id="127" name="Google Shape;127;p23"/>
            <p:cNvSpPr txBox="1"/>
            <p:nvPr/>
          </p:nvSpPr>
          <p:spPr>
            <a:xfrm>
              <a:off x="3405985" y="1837975"/>
              <a:ext cx="2364300" cy="780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1200"/>
                </a:spcAft>
                <a:buNone/>
              </a:pPr>
              <a:r>
                <a:rPr lang="en" sz="1800">
                  <a:solidFill>
                    <a:srgbClr val="6AA84F"/>
                  </a:solidFill>
                </a:rPr>
                <a:t>discounts</a:t>
              </a:r>
              <a:br>
                <a:rPr lang="en" sz="1800">
                  <a:solidFill>
                    <a:srgbClr val="6AA84F"/>
                  </a:solidFill>
                </a:rPr>
              </a:br>
              <a:r>
                <a:rPr lang="en" sz="1800">
                  <a:solidFill>
                    <a:srgbClr val="6AA84F"/>
                  </a:solidFill>
                </a:rPr>
                <a:t>orders and revenue</a:t>
              </a:r>
              <a:endParaRPr>
                <a:solidFill>
                  <a:srgbClr val="6AA84F"/>
                </a:solidFill>
              </a:endParaRPr>
            </a:p>
          </p:txBody>
        </p:sp>
        <p:sp>
          <p:nvSpPr>
            <p:cNvPr id="128" name="Google Shape;128;p23"/>
            <p:cNvSpPr/>
            <p:nvPr/>
          </p:nvSpPr>
          <p:spPr>
            <a:xfrm>
              <a:off x="3229200" y="1969000"/>
              <a:ext cx="117900" cy="1359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38761D"/>
            </a:solidFill>
            <a:ln w="44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43200" tIns="43200" rIns="43200" bIns="4320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63"/>
            </a:p>
          </p:txBody>
        </p:sp>
        <p:sp>
          <p:nvSpPr>
            <p:cNvPr id="129" name="Google Shape;129;p23"/>
            <p:cNvSpPr/>
            <p:nvPr/>
          </p:nvSpPr>
          <p:spPr>
            <a:xfrm>
              <a:off x="3170250" y="2215550"/>
              <a:ext cx="235800" cy="320700"/>
            </a:xfrm>
            <a:prstGeom prst="upArrow">
              <a:avLst>
                <a:gd name="adj1" fmla="val 50000"/>
                <a:gd name="adj2" fmla="val 50000"/>
              </a:avLst>
            </a:prstGeom>
            <a:solidFill>
              <a:srgbClr val="38761D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23"/>
            <p:cNvSpPr/>
            <p:nvPr/>
          </p:nvSpPr>
          <p:spPr>
            <a:xfrm>
              <a:off x="5599425" y="1702625"/>
              <a:ext cx="399000" cy="21300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38761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23"/>
          <p:cNvGrpSpPr/>
          <p:nvPr/>
        </p:nvGrpSpPr>
        <p:grpSpPr>
          <a:xfrm>
            <a:off x="6599718" y="1969000"/>
            <a:ext cx="2599993" cy="2340975"/>
            <a:chOff x="6599718" y="1969000"/>
            <a:chExt cx="2599993" cy="2340975"/>
          </a:xfrm>
        </p:grpSpPr>
        <p:sp>
          <p:nvSpPr>
            <p:cNvPr id="132" name="Google Shape;132;p23"/>
            <p:cNvSpPr/>
            <p:nvPr/>
          </p:nvSpPr>
          <p:spPr>
            <a:xfrm>
              <a:off x="8178300" y="2992075"/>
              <a:ext cx="399000" cy="1317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23"/>
            <p:cNvGrpSpPr/>
            <p:nvPr/>
          </p:nvGrpSpPr>
          <p:grpSpPr>
            <a:xfrm>
              <a:off x="6599718" y="1969000"/>
              <a:ext cx="2599993" cy="780300"/>
              <a:chOff x="3170293" y="1837975"/>
              <a:chExt cx="2599993" cy="780300"/>
            </a:xfrm>
          </p:grpSpPr>
          <p:sp>
            <p:nvSpPr>
              <p:cNvPr id="134" name="Google Shape;134;p23"/>
              <p:cNvSpPr txBox="1"/>
              <p:nvPr/>
            </p:nvSpPr>
            <p:spPr>
              <a:xfrm>
                <a:off x="3405985" y="1837975"/>
                <a:ext cx="2364300" cy="78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" sz="1800">
                    <a:solidFill>
                      <a:srgbClr val="6AA84F"/>
                    </a:solidFill>
                  </a:rPr>
                  <a:t>discounts</a:t>
                </a:r>
                <a:br>
                  <a:rPr lang="en" sz="1800">
                    <a:solidFill>
                      <a:srgbClr val="6AA84F"/>
                    </a:solidFill>
                  </a:rPr>
                </a:br>
                <a:r>
                  <a:rPr lang="en" sz="1800">
                    <a:solidFill>
                      <a:srgbClr val="A61C00"/>
                    </a:solidFill>
                  </a:rPr>
                  <a:t>orders and revenue</a:t>
                </a:r>
                <a:endParaRPr>
                  <a:solidFill>
                    <a:srgbClr val="A61C00"/>
                  </a:solidFill>
                </a:endParaRPr>
              </a:p>
            </p:txBody>
          </p:sp>
          <p:sp>
            <p:nvSpPr>
              <p:cNvPr id="135" name="Google Shape;135;p23"/>
              <p:cNvSpPr/>
              <p:nvPr/>
            </p:nvSpPr>
            <p:spPr>
              <a:xfrm>
                <a:off x="3234366" y="1959082"/>
                <a:ext cx="117900" cy="158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rgbClr val="38761D"/>
              </a:solidFill>
              <a:ln w="4750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45550" tIns="45550" rIns="45550" bIns="45550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97"/>
              </a:p>
            </p:txBody>
          </p:sp>
          <p:sp>
            <p:nvSpPr>
              <p:cNvPr id="136" name="Google Shape;136;p23"/>
              <p:cNvSpPr/>
              <p:nvPr/>
            </p:nvSpPr>
            <p:spPr>
              <a:xfrm rot="10795626">
                <a:off x="3170292" y="2215667"/>
                <a:ext cx="235800" cy="320700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rgbClr val="990000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20" b="1"/>
              <a:t>Recommendation</a:t>
            </a:r>
            <a:endParaRPr b="1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1681250"/>
            <a:ext cx="8520600" cy="28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Avoid aggressive discounts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(especially on categories with large price distribution + low volume share)</a:t>
            </a:r>
            <a:endParaRPr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Explicit testing is required to understand how discounts drive sales &amp; revenue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(as well as customer satisfaction, acquisition, and retention)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20" b="1">
                <a:solidFill>
                  <a:srgbClr val="073763"/>
                </a:solidFill>
              </a:rPr>
              <a:t>Summary</a:t>
            </a:r>
            <a:endParaRPr sz="3020" b="1">
              <a:solidFill>
                <a:srgbClr val="073763"/>
              </a:solidFill>
            </a:endParaRPr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6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73763"/>
                </a:solidFill>
              </a:rPr>
              <a:t>Context: </a:t>
            </a:r>
            <a:endParaRPr>
              <a:solidFill>
                <a:srgbClr val="07376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>
                <a:solidFill>
                  <a:srgbClr val="073763"/>
                </a:solidFill>
              </a:rPr>
              <a:t>Biggest product categories are “Accessories: cases” and “Cables  and Connectivity”</a:t>
            </a:r>
            <a:endParaRPr>
              <a:solidFill>
                <a:srgbClr val="07376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>
                <a:solidFill>
                  <a:srgbClr val="073763"/>
                </a:solidFill>
              </a:rPr>
              <a:t>Range of prices vary considerably across and within categories</a:t>
            </a:r>
            <a:endParaRPr>
              <a:solidFill>
                <a:srgbClr val="07376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>
                <a:solidFill>
                  <a:srgbClr val="073763"/>
                </a:solidFill>
              </a:rPr>
              <a:t>We have offered discounts on most products at some point, typically around 15%</a:t>
            </a:r>
            <a:endParaRPr>
              <a:solidFill>
                <a:srgbClr val="073763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73763"/>
                </a:solidFill>
              </a:rPr>
              <a:t>Discounts: </a:t>
            </a:r>
            <a:endParaRPr>
              <a:solidFill>
                <a:srgbClr val="073763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>
                <a:solidFill>
                  <a:srgbClr val="073763"/>
                </a:solidFill>
              </a:rPr>
              <a:t>A slight </a:t>
            </a:r>
            <a:r>
              <a:rPr lang="en" b="1" u="sng">
                <a:solidFill>
                  <a:srgbClr val="6AA84F"/>
                </a:solidFill>
              </a:rPr>
              <a:t>increase </a:t>
            </a:r>
            <a:r>
              <a:rPr lang="en">
                <a:solidFill>
                  <a:srgbClr val="073763"/>
                </a:solidFill>
              </a:rPr>
              <a:t>in discounts in Nov 2017 coincided with </a:t>
            </a:r>
            <a:r>
              <a:rPr lang="en" b="1" u="sng">
                <a:solidFill>
                  <a:srgbClr val="6AA84F"/>
                </a:solidFill>
              </a:rPr>
              <a:t>increased </a:t>
            </a:r>
            <a:r>
              <a:rPr lang="en">
                <a:solidFill>
                  <a:srgbClr val="073763"/>
                </a:solidFill>
              </a:rPr>
              <a:t>orders and revenue, particularly on Black Friday and Cyber Monday</a:t>
            </a:r>
            <a:endParaRPr>
              <a:solidFill>
                <a:srgbClr val="073763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73763"/>
              </a:buClr>
              <a:buSzPts val="1800"/>
              <a:buChar char="●"/>
            </a:pPr>
            <a:r>
              <a:rPr lang="en" u="sng">
                <a:solidFill>
                  <a:srgbClr val="073763"/>
                </a:solidFill>
              </a:rPr>
              <a:t>Similar discounts</a:t>
            </a:r>
            <a:r>
              <a:rPr lang="en">
                <a:solidFill>
                  <a:srgbClr val="073763"/>
                </a:solidFill>
              </a:rPr>
              <a:t> in March 2018 coincided with </a:t>
            </a:r>
            <a:r>
              <a:rPr lang="en" b="1" u="sng">
                <a:solidFill>
                  <a:srgbClr val="CC0000"/>
                </a:solidFill>
              </a:rPr>
              <a:t>decreased</a:t>
            </a:r>
            <a:r>
              <a:rPr lang="en" u="sng">
                <a:solidFill>
                  <a:srgbClr val="073763"/>
                </a:solidFill>
              </a:rPr>
              <a:t> </a:t>
            </a:r>
            <a:r>
              <a:rPr lang="en">
                <a:solidFill>
                  <a:srgbClr val="073763"/>
                </a:solidFill>
              </a:rPr>
              <a:t>orders and revenue</a:t>
            </a:r>
            <a:endParaRPr>
              <a:solidFill>
                <a:srgbClr val="07376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Recommendations for data collection</a:t>
            </a:r>
            <a:endParaRPr b="1"/>
          </a:p>
        </p:txBody>
      </p:sp>
      <p:sp>
        <p:nvSpPr>
          <p:cNvPr id="170" name="Google Shape;17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lot of corrupted data, particularly regarding prices: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Data entry validation when entering price information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Notes column (extra information for exceptional cases)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 shipping cost information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Product categorisation: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Pre-defined categories for products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Short and clear name column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585</Words>
  <Application>Microsoft Office PowerPoint</Application>
  <PresentationFormat>On-screen Show (16:9)</PresentationFormat>
  <Paragraphs>67</Paragraphs>
  <Slides>14</Slides>
  <Notes>14</Notes>
  <HiddenSlides>2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Eniac’s Discount Strategy</vt:lpstr>
      <vt:lpstr>Introduction</vt:lpstr>
      <vt:lpstr>Products Distribution by Category </vt:lpstr>
      <vt:lpstr>Price Distribution of Products by Category*</vt:lpstr>
      <vt:lpstr>Most products are discounted (~42k vs 2k)  Discounts cluster strongly around 15%</vt:lpstr>
      <vt:lpstr>Percent discount per product category</vt:lpstr>
      <vt:lpstr>Revenue across Products (Major Categories)</vt:lpstr>
      <vt:lpstr>Little evidence that aggressive discounts drive more sales</vt:lpstr>
      <vt:lpstr>Little evidence that aggressive discounts drive more sales</vt:lpstr>
      <vt:lpstr>Little evidence that aggressive discounts drive more sales</vt:lpstr>
      <vt:lpstr>Little evidence that aggressive discounts drive more sales</vt:lpstr>
      <vt:lpstr>Recommendation</vt:lpstr>
      <vt:lpstr>Summary</vt:lpstr>
      <vt:lpstr>Recommendations for data collection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Agyei, Kwabena</cp:lastModifiedBy>
  <cp:revision>1</cp:revision>
  <dcterms:modified xsi:type="dcterms:W3CDTF">2026-03-03T11:18:57Z</dcterms:modified>
</cp:coreProperties>
</file>